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d3e85c5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d3e85c5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d3e85c5f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d3e85c5f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d3e85c5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d3e85c5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d3e85c5f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d3e85c5f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d3e85c5f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d3e85c5f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d3e85c5f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d3e85c5f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d3e85c5f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d3e85c5f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d3e85c5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d3e85c5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d3e85c5f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d3e85c5f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d3e85c5f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d3e85c5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d3e85c5f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d3e85c5f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d3e85c5f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d3e85c5f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price_elasticity_graphic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744575"/>
            <a:ext cx="8520600" cy="17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DAGs made?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571750"/>
            <a:ext cx="8520600" cy="21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 into modelling price elasticity</a:t>
            </a:r>
            <a:br>
              <a:rPr lang="en"/>
            </a:br>
            <a:endParaRPr sz="2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Paweł Olszewski</a:t>
            </a:r>
            <a:br>
              <a:rPr lang="en" sz="2400"/>
            </a:br>
            <a:r>
              <a:rPr lang="en" sz="2000"/>
              <a:t>d</a:t>
            </a:r>
            <a:r>
              <a:rPr lang="en" sz="2000"/>
              <a:t>ata scientist @ Allegro</a:t>
            </a:r>
            <a:br>
              <a:rPr lang="en" sz="2000"/>
            </a:br>
            <a:r>
              <a:rPr lang="en" sz="2400"/>
              <a:t>27.05.2026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price_elasticity_graphic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ctrTitle"/>
          </p:nvPr>
        </p:nvSpPr>
        <p:spPr>
          <a:xfrm>
            <a:off x="489500" y="592175"/>
            <a:ext cx="85206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/>
              <a:t>Meet </a:t>
            </a:r>
            <a:r>
              <a:rPr b="1" lang="en" sz="2650"/>
              <a:t>Tomek</a:t>
            </a:r>
            <a:r>
              <a:rPr lang="en" sz="2650"/>
              <a:t>,</a:t>
            </a:r>
            <a:br>
              <a:rPr lang="en" sz="2650"/>
            </a:br>
            <a:r>
              <a:rPr lang="en" sz="2650"/>
              <a:t>a newly hired Data Scientist at Allegro.</a:t>
            </a:r>
            <a:br>
              <a:rPr lang="en" sz="2650"/>
            </a:br>
            <a:br>
              <a:rPr lang="en" sz="3000"/>
            </a:br>
            <a:endParaRPr/>
          </a:p>
        </p:txBody>
      </p:sp>
      <p:sp>
        <p:nvSpPr>
          <p:cNvPr id="63" name="Google Shape;63;p14"/>
          <p:cNvSpPr txBox="1"/>
          <p:nvPr>
            <p:ph type="ctrTitle"/>
          </p:nvPr>
        </p:nvSpPr>
        <p:spPr>
          <a:xfrm>
            <a:off x="4051300" y="1610800"/>
            <a:ext cx="4635600" cy="29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en" sz="2650"/>
              <a:t>His first assignment?</a:t>
            </a:r>
            <a:endParaRPr b="1"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Automated price discounts!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377"/>
              <a:buFont typeface="Arial"/>
              <a:buNone/>
            </a:pPr>
            <a:r>
              <a:rPr lang="en" sz="2228">
                <a:solidFill>
                  <a:schemeClr val="dk2"/>
                </a:solidFill>
              </a:rPr>
              <a:t>Given a fixed monthly budget, decide where to discount and how much to maximize the total effect on sales.</a:t>
            </a:r>
            <a:endParaRPr sz="2228">
              <a:solidFill>
                <a:schemeClr val="dk2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159" l="0" r="0" t="169"/>
          <a:stretch/>
        </p:blipFill>
        <p:spPr>
          <a:xfrm>
            <a:off x="-771800" y="2202401"/>
            <a:ext cx="5343800" cy="29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-35700" y="0"/>
            <a:ext cx="9210675" cy="5145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n't give him a hand calculator, make his shirt blueish-white, make him have some simplistic shadows on his face and body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background color of the whiteboard to be slightly lighter, less yellowish; also, drop the markers at the bottom, in the whiteboard's trail" id="79" name="Google Shape;79;p17"/>
          <p:cNvPicPr preferRelativeResize="0"/>
          <p:nvPr/>
        </p:nvPicPr>
        <p:blipFill rotWithShape="1">
          <a:blip r:embed="rId3">
            <a:alphaModFix/>
          </a:blip>
          <a:srcRect b="0" l="475" r="475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price_elasticity_graphic4.png"/>
          <p:cNvPicPr preferRelativeResize="0"/>
          <p:nvPr/>
        </p:nvPicPr>
        <p:blipFill rotWithShape="1">
          <a:blip r:embed="rId3">
            <a:alphaModFix/>
          </a:blip>
          <a:srcRect b="3082" l="1354" r="1237" t="2086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price_elasticity_graphic5.png"/>
          <p:cNvPicPr preferRelativeResize="0"/>
          <p:nvPr/>
        </p:nvPicPr>
        <p:blipFill rotWithShape="1">
          <a:blip r:embed="rId3">
            <a:alphaModFix/>
          </a:blip>
          <a:srcRect b="2662" l="2290" r="2299" t="2263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 rotWithShape="1">
          <a:blip r:embed="rId3">
            <a:alphaModFix/>
          </a:blip>
          <a:srcRect b="4152" l="2471" r="2481" t="274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/>
          <p:cNvPicPr preferRelativeResize="0"/>
          <p:nvPr/>
        </p:nvPicPr>
        <p:blipFill rotWithShape="1">
          <a:blip r:embed="rId3">
            <a:alphaModFix/>
          </a:blip>
          <a:srcRect b="3306" l="1534" r="1407" t="169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2"/>
          <p:cNvPicPr preferRelativeResize="0"/>
          <p:nvPr/>
        </p:nvPicPr>
        <p:blipFill rotWithShape="1">
          <a:blip r:embed="rId3">
            <a:alphaModFix/>
          </a:blip>
          <a:srcRect b="3772" l="1485" r="1475" t="169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guy not wear glasses, and make his shirt blueish-white." id="109" name="Google Shape;109;p23"/>
          <p:cNvPicPr preferRelativeResize="0"/>
          <p:nvPr/>
        </p:nvPicPr>
        <p:blipFill rotWithShape="1">
          <a:blip r:embed="rId3">
            <a:alphaModFix/>
          </a:blip>
          <a:srcRect b="2709" l="2054" r="1977" t="291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4" title="price_elasticity_graphic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4"/>
          <p:cNvSpPr txBox="1"/>
          <p:nvPr>
            <p:ph type="ctrTitle"/>
          </p:nvPr>
        </p:nvSpPr>
        <p:spPr>
          <a:xfrm>
            <a:off x="311700" y="744575"/>
            <a:ext cx="8520600" cy="50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/>
              <a:t>Tips for price elasticity modelling</a:t>
            </a:r>
            <a:endParaRPr sz="2880"/>
          </a:p>
        </p:txBody>
      </p:sp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459075" y="1330375"/>
            <a:ext cx="8122800" cy="26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Identify and exclude mediators (if you cannot model the P→M effect separately).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You probably should include the history of the outcome in your features (autoregression). But don’t forget to include history of the treatment as well.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An ML S-learner will regularize some of your treatment effect towards zero.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Model the treatment to expose problems with positivity.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Estimating heterogeneity of the effect (rather than just ATE) is another level of difficulty. Consider pairing DML with CausalForest (note: the final stage of DML is </a:t>
            </a:r>
            <a:r>
              <a:rPr i="1" lang="en" sz="1600"/>
              <a:t>non-causal)</a:t>
            </a:r>
            <a:r>
              <a:rPr lang="en" sz="1600"/>
              <a:t>.</a:t>
            </a:r>
            <a:br>
              <a:rPr lang="en" sz="1600"/>
            </a:b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Chances are </a:t>
            </a:r>
            <a:r>
              <a:rPr b="1" lang="en" sz="1600"/>
              <a:t>no one</a:t>
            </a:r>
            <a:r>
              <a:rPr b="1" lang="en" sz="1600"/>
              <a:t> else is going to want to see your DAG. Draw it anyway :)</a:t>
            </a:r>
            <a:endParaRPr b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